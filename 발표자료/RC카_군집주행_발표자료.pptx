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9912ebe31746e2" /><Relationship Type="http://schemas.openxmlformats.org/officeDocument/2006/relationships/extended-properties" Target="/docProps/app.xml" Id="Rde3154e834634834" /><Relationship Type="http://schemas.openxmlformats.org/officeDocument/2006/relationships/officeDocument" Target="/ppt/presentation.xml" Id="R313e4c8bc26046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cd93a012ec41a9"/>
  </p:sldMasterIdLst>
  <p:notesMasterIdLst>
    <p:notesMasterId xmlns:r="http://schemas.openxmlformats.org/officeDocument/2006/relationships" r:id="R43d2aa218d4149f6"/>
  </p:notesMasterIdLst>
  <p:sldIdLst>
    <p:sldId xmlns:r="http://schemas.openxmlformats.org/officeDocument/2006/relationships" id="256" r:id="R8c51322563b0477a"/>
    <p:sldId xmlns:r="http://schemas.openxmlformats.org/officeDocument/2006/relationships" id="257" r:id="R23585f49241247bb"/>
    <p:sldId xmlns:r="http://schemas.openxmlformats.org/officeDocument/2006/relationships" id="258" r:id="R6d35a333629c47ef"/>
    <p:sldId xmlns:r="http://schemas.openxmlformats.org/officeDocument/2006/relationships" id="259" r:id="R931c7fd464e34bad"/>
    <p:sldId xmlns:r="http://schemas.openxmlformats.org/officeDocument/2006/relationships" id="260" r:id="R8eafb2f71dd04216"/>
    <p:sldId xmlns:r="http://schemas.openxmlformats.org/officeDocument/2006/relationships" id="261" r:id="Rb698da3ecfc24e62"/>
    <p:sldId xmlns:r="http://schemas.openxmlformats.org/officeDocument/2006/relationships" id="262" r:id="R851fb534770a4c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0c5dbbacea42a4" /><Relationship Type="http://schemas.openxmlformats.org/officeDocument/2006/relationships/slideMaster" Target="/ppt/slideMasters/slideMaster1.xml" Id="R68cd93a012ec41a9" /><Relationship Type="http://schemas.openxmlformats.org/officeDocument/2006/relationships/notesMaster" Target="/ppt/notesMasters/notesMaster1.xml" Id="R43d2aa218d4149f6" /><Relationship Type="http://schemas.openxmlformats.org/officeDocument/2006/relationships/presProps" Target="/ppt/presProps.xml" Id="Rd65654a56b214472" /><Relationship Type="http://schemas.openxmlformats.org/officeDocument/2006/relationships/tableStyles" Target="/ppt/tableStyles.xml" Id="R1f50231dd14549eb" /><Relationship Type="http://schemas.openxmlformats.org/officeDocument/2006/relationships/slide" Target="/ppt/slides/slide1.xml" Id="R8c51322563b0477a" /><Relationship Type="http://schemas.openxmlformats.org/officeDocument/2006/relationships/slide" Target="/ppt/slides/slide2.xml" Id="R23585f49241247bb" /><Relationship Type="http://schemas.openxmlformats.org/officeDocument/2006/relationships/slide" Target="/ppt/slides/slide3.xml" Id="R6d35a333629c47ef" /><Relationship Type="http://schemas.openxmlformats.org/officeDocument/2006/relationships/slide" Target="/ppt/slides/slide4.xml" Id="R931c7fd464e34bad" /><Relationship Type="http://schemas.openxmlformats.org/officeDocument/2006/relationships/slide" Target="/ppt/slides/slide5.xml" Id="R8eafb2f71dd04216" /><Relationship Type="http://schemas.openxmlformats.org/officeDocument/2006/relationships/slide" Target="/ppt/slides/slide6.xml" Id="Rb698da3ecfc24e62" /><Relationship Type="http://schemas.openxmlformats.org/officeDocument/2006/relationships/slide" Target="/ppt/slides/slide7.xml" Id="R851fb534770a4c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9561dc87fc43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214d92ddb8495f" /><Relationship Type="http://schemas.openxmlformats.org/officeDocument/2006/relationships/notesMaster" Target="/ppt/notesMasters/notesMaster1.xml" Id="R0d707f6c1f83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dd13411cda4703" /><Relationship Type="http://schemas.openxmlformats.org/officeDocument/2006/relationships/notesMaster" Target="/ppt/notesMasters/notesMaster1.xml" Id="Rbb2ed57a46f447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a7997ecc9a4b23" /><Relationship Type="http://schemas.openxmlformats.org/officeDocument/2006/relationships/notesMaster" Target="/ppt/notesMasters/notesMaster1.xml" Id="Ref1b8687743e4b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38c3582f024fc3" /><Relationship Type="http://schemas.openxmlformats.org/officeDocument/2006/relationships/notesMaster" Target="/ppt/notesMasters/notesMaster1.xml" Id="R25c0562044c548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eed3ba16d84a1e" /><Relationship Type="http://schemas.openxmlformats.org/officeDocument/2006/relationships/notesMaster" Target="/ppt/notesMasters/notesMaster1.xml" Id="Rd909c26964f949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55ae153e2e4e20" /><Relationship Type="http://schemas.openxmlformats.org/officeDocument/2006/relationships/notesMaster" Target="/ppt/notesMasters/notesMaster1.xml" Id="R26b92e9337884c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e2e5d894b94ab7" /><Relationship Type="http://schemas.openxmlformats.org/officeDocument/2006/relationships/notesMaster" Target="/ppt/notesMasters/notesMaster1.xml" Id="Ra8a3975ebb3c4c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7efd9522e48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c9bb9a0d2042db" /><Relationship Type="http://schemas.openxmlformats.org/officeDocument/2006/relationships/slideLayout" Target="/ppt/slideLayouts/slideLayout1.xml" Id="Rdc3cfb16f9f245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3cfb16f9f245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ff94adadb456f" /><Relationship Type="http://schemas.openxmlformats.org/officeDocument/2006/relationships/notesSlide" Target="/ppt/notesSlides/notesSlide1.xml" Id="Rb8786450330d41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8e3d63c304f6e" /><Relationship Type="http://schemas.openxmlformats.org/officeDocument/2006/relationships/notesSlide" Target="/ppt/notesSlides/notesSlide2.xml" Id="Rc2db8410944643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70b2e69f44742" /><Relationship Type="http://schemas.openxmlformats.org/officeDocument/2006/relationships/notesSlide" Target="/ppt/notesSlides/notesSlide3.xml" Id="R3d9610ea0d9542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6849e6c364384" /><Relationship Type="http://schemas.openxmlformats.org/officeDocument/2006/relationships/notesSlide" Target="/ppt/notesSlides/notesSlide4.xml" Id="R68853d817f7b4c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355187c314877" /><Relationship Type="http://schemas.openxmlformats.org/officeDocument/2006/relationships/notesSlide" Target="/ppt/notesSlides/notesSlide5.xml" Id="Rb060fbe2ca8843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b53bccf624e12" /><Relationship Type="http://schemas.openxmlformats.org/officeDocument/2006/relationships/notesSlide" Target="/ppt/notesSlides/notesSlide6.xml" Id="R223d6a84b7d94f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fb0587a5e4479" /><Relationship Type="http://schemas.openxmlformats.org/officeDocument/2006/relationships/notesSlide" Target="/ppt/notesSlides/notesSlide7.xml" Id="Raa8cc39ffb6247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E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left">
            <a:extLst xmlns:a="http://schemas.openxmlformats.org/drawingml/2006/main">
              <a:ext uri="{FF2B5EF4-FFF2-40B4-BE49-F238E27FC236}">
                <a16:creationId xmlns:a16="http://schemas.microsoft.com/office/drawing/2014/main" id="{48EDF6E6-5E6D-4014-BEF7-76F2EFB9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cover-top">
            <a:extLst xmlns:a="http://schemas.openxmlformats.org/drawingml/2006/main">
              <a:ext uri="{FF2B5EF4-FFF2-40B4-BE49-F238E27FC236}">
                <a16:creationId xmlns:a16="http://schemas.microsoft.com/office/drawing/2014/main" id="{6ED5F6FB-0064-4BA7-A300-3CF6FF0E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1186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C7EACBF-677B-47C0-857E-529265F2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E1DD"/>
                </a:solidFill>
                <a:latin typeface="Malgun Gothic"/>
                <a:ea typeface="Malgun Gothic"/>
                <a:cs typeface="Malgun Gothic"/>
              </a:defRPr>
            </a:pPr>
            <a:r>
              <a:t>PROJECT PRESENTATION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1382939-D8DD-406C-8C45-C97582E0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858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다중 RC카 차선 인식 및
군집주행 시스템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07639F6-842E-426C-99EC-50A98613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8572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8EEF2"/>
                </a:solidFill>
                <a:latin typeface="Malgun Gothic"/>
                <a:ea typeface="Malgun Gothic"/>
                <a:cs typeface="Malgun Gothic"/>
              </a:defRPr>
            </a:pPr>
            <a:r>
              <a:t>차선 인식 · 오른쪽→왼쪽 차선 변경 · 선두-후미 차량 연동</a:t>
            </a:r>
          </a:p>
        </p:txBody>
      </p:sp>
      <p:sp>
        <p:nvSpPr>
          <p:cNvPr id="6" name="cover-tag">
            <a:extLst xmlns:a="http://schemas.openxmlformats.org/drawingml/2006/main">
              <a:ext uri="{FF2B5EF4-FFF2-40B4-BE49-F238E27FC236}">
                <a16:creationId xmlns:a16="http://schemas.microsoft.com/office/drawing/2014/main" id="{2E20ECA8-719B-4E3D-9684-A932A755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4A61"/>
          </a:solidFill>
          <a:ln xmlns:a="http://schemas.openxmlformats.org/drawingml/2006/main" w="9525">
            <a:solidFill>
              <a:srgbClr val="3C687B"/>
            </a:solidFill>
            <a:prstDash val="solid"/>
          </a:ln>
        </p:spPr>
      </p:sp>
      <p:sp>
        <p:nvSpPr>
          <p:cNvPr id="7" name="cover-tag-title">
            <a:extLst xmlns:a="http://schemas.openxmlformats.org/drawingml/2006/main">
              <a:ext uri="{FF2B5EF4-FFF2-40B4-BE49-F238E27FC236}">
                <a16:creationId xmlns:a16="http://schemas.microsoft.com/office/drawing/2014/main" id="{2A102DF2-4739-4AD6-BAEA-9D8D123F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3714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시연: 선두차량 + 후미차량 1대</a:t>
            </a:r>
          </a:p>
        </p:txBody>
      </p:sp>
      <p:sp>
        <p:nvSpPr>
          <p:cNvPr id="8" name="cover-tag-body">
            <a:extLst xmlns:a="http://schemas.openxmlformats.org/drawingml/2006/main">
              <a:ext uri="{FF2B5EF4-FFF2-40B4-BE49-F238E27FC236}">
                <a16:creationId xmlns:a16="http://schemas.microsoft.com/office/drawing/2014/main" id="{03AEC705-2116-4880-97EF-A97EAC9D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57825"/>
            <a:ext cx="628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FCBD5"/>
                </a:solidFill>
                <a:latin typeface="Malgun Gothic"/>
                <a:ea typeface="Malgun Gothic"/>
                <a:cs typeface="Malgun Gothic"/>
              </a:defRPr>
            </a:pPr>
            <a:r>
              <a:t>통합 대시보드 · 깜빡이 · 비상 정지 기능은 미촬영</a:t>
            </a:r>
          </a:p>
        </p:txBody>
      </p:sp>
    </p:spTree>
    <p:extLst>
      <p:ext uri="{BB962C8B-B14F-4D97-AF65-F5344CB8AC3E}">
        <p14:creationId xmlns:p14="http://schemas.microsoft.com/office/powerpoint/2010/main" val="1631468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ule-2">
            <a:extLst xmlns:a="http://schemas.openxmlformats.org/drawingml/2006/main">
              <a:ext uri="{FF2B5EF4-FFF2-40B4-BE49-F238E27FC236}">
                <a16:creationId xmlns:a16="http://schemas.microsoft.com/office/drawing/2014/main" id="{010650BB-9E7B-4E4D-920D-1A803E08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1143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3CAC1E4-DCB3-41F0-A29B-0C63431B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9906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프로젝트가 해결한 세 가지 과제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31F978F9-2489-4C59-BB7D-59FAB95E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"/>
            <a:ext cx="628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C62D896B-759F-4117-BAFA-D85A4817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057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인지-판단-제어를 연결해 한 대의 자율주행을 다중 차량 움직임으로 확장했습니다.</a:t>
            </a:r>
          </a:p>
        </p:txBody>
      </p:sp>
      <p:cxnSp>
        <p:nvCxnSpPr>
          <p:cNvPr id="26" name="footer-line-2"/>
          <p:cNvCxnSpPr/>
          <p:nvPr/>
        </p:nvCxnSpPr>
        <p:spPr>
          <a:xfrm xmlns:a="http://schemas.openxmlformats.org/drawingml/2006/main">
            <a:off x="457200" y="6457950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6DB"/>
            </a:solidFill>
            <a:prstDash val="solid"/>
          </a:ln>
        </p:spPr>
      </p:cxnSp>
      <p:sp>
        <p:nvSpPr>
          <p:cNvPr id="6" name="footer-text-2">
            <a:extLst xmlns:a="http://schemas.openxmlformats.org/drawingml/2006/main">
              <a:ext uri="{FF2B5EF4-FFF2-40B4-BE49-F238E27FC236}">
                <a16:creationId xmlns:a16="http://schemas.microsoft.com/office/drawing/2014/main" id="{FE7DD6A2-E7A2-4256-8B7C-E033024C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다중 RC카 차선 인식 및 군집주행</a:t>
            </a:r>
          </a:p>
        </p:txBody>
      </p:sp>
      <p:sp>
        <p:nvSpPr>
          <p:cNvPr id="7" name="goal-1">
            <a:extLst xmlns:a="http://schemas.openxmlformats.org/drawingml/2006/main">
              <a:ext uri="{FF2B5EF4-FFF2-40B4-BE49-F238E27FC236}">
                <a16:creationId xmlns:a16="http://schemas.microsoft.com/office/drawing/2014/main" id="{4F7C3FE0-C294-4824-AB51-8861AAA5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3524250" cy="36195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8" name="goal-2">
            <a:extLst xmlns:a="http://schemas.openxmlformats.org/drawingml/2006/main">
              <a:ext uri="{FF2B5EF4-FFF2-40B4-BE49-F238E27FC236}">
                <a16:creationId xmlns:a16="http://schemas.microsoft.com/office/drawing/2014/main" id="{723CC6FC-F37F-4A41-8D62-B7AEF99D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05000"/>
            <a:ext cx="3524250" cy="36195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9" name="goal-3">
            <a:extLst xmlns:a="http://schemas.openxmlformats.org/drawingml/2006/main">
              <a:ext uri="{FF2B5EF4-FFF2-40B4-BE49-F238E27FC236}">
                <a16:creationId xmlns:a16="http://schemas.microsoft.com/office/drawing/2014/main" id="{3DEDCB16-1AA4-4622-9D36-7653CD32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524250" cy="36195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23B55"/>
          </a:solidFill>
          <a:ln xmlns:a="http://schemas.openxmlformats.org/drawingml/2006/main" w="0">
            <a:solidFill>
              <a:srgbClr val="123B55"/>
            </a:solidFill>
            <a:prstDash val="solid"/>
          </a:ln>
        </p:spPr>
      </p:sp>
      <p:sp>
        <p:nvSpPr>
          <p:cNvPr id="10" name="goal-num-1">
            <a:extLst xmlns:a="http://schemas.openxmlformats.org/drawingml/2006/main">
              <a:ext uri="{FF2B5EF4-FFF2-40B4-BE49-F238E27FC236}">
                <a16:creationId xmlns:a16="http://schemas.microsoft.com/office/drawing/2014/main" id="{99B4617F-0B5E-4296-A5CF-0BA54320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66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A6A6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11" name="goal-title-1">
            <a:extLst xmlns:a="http://schemas.openxmlformats.org/drawingml/2006/main">
              <a:ext uri="{FF2B5EF4-FFF2-40B4-BE49-F238E27FC236}">
                <a16:creationId xmlns:a16="http://schemas.microsoft.com/office/drawing/2014/main" id="{0DDC6C3B-914F-41CE-9D4B-5E014CCB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2667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차선 인식</a:t>
            </a:r>
          </a:p>
        </p:txBody>
      </p:sp>
      <p:sp>
        <p:nvSpPr>
          <p:cNvPr id="12" name="goal-body-1">
            <a:extLst xmlns:a="http://schemas.openxmlformats.org/drawingml/2006/main">
              <a:ext uri="{FF2B5EF4-FFF2-40B4-BE49-F238E27FC236}">
                <a16:creationId xmlns:a16="http://schemas.microsoft.com/office/drawing/2014/main" id="{340E57FF-FBB7-4D47-811A-AB0FB56B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27813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12B"/>
                </a:solidFill>
                <a:latin typeface="Malgun Gothic"/>
                <a:ea typeface="Malgun Gothic"/>
                <a:cs typeface="Malgun Gothic"/>
              </a:defRPr>
            </a:pPr>
            <a:r>
              <a:t>카메라 영상의 차선 경계를 검출하고 차로 중심 오차를 계산합니다.</a:t>
            </a:r>
          </a:p>
        </p:txBody>
      </p:sp>
      <p:sp>
        <p:nvSpPr>
          <p:cNvPr id="13" name="goal-note-1">
            <a:extLst xmlns:a="http://schemas.openxmlformats.org/drawingml/2006/main">
              <a:ext uri="{FF2B5EF4-FFF2-40B4-BE49-F238E27FC236}">
                <a16:creationId xmlns:a16="http://schemas.microsoft.com/office/drawing/2014/main" id="{1EE8C8DD-6F5E-4C92-9E14-2186F41D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OpenCV / YOLO 실험</a:t>
            </a:r>
          </a:p>
        </p:txBody>
      </p:sp>
      <p:sp>
        <p:nvSpPr>
          <p:cNvPr id="14" name="goal-num-2">
            <a:extLst xmlns:a="http://schemas.openxmlformats.org/drawingml/2006/main">
              <a:ext uri="{FF2B5EF4-FFF2-40B4-BE49-F238E27FC236}">
                <a16:creationId xmlns:a16="http://schemas.microsoft.com/office/drawing/2014/main" id="{40E91AF4-0E5C-48D5-B9F2-4795F6C9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71700"/>
            <a:ext cx="66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A6A6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5" name="goal-title-2">
            <a:extLst xmlns:a="http://schemas.openxmlformats.org/drawingml/2006/main">
              <a:ext uri="{FF2B5EF4-FFF2-40B4-BE49-F238E27FC236}">
                <a16:creationId xmlns:a16="http://schemas.microsoft.com/office/drawing/2014/main" id="{020D7B02-B659-432C-8AE7-BF4CE352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62250"/>
            <a:ext cx="2667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차선 변경</a:t>
            </a:r>
          </a:p>
        </p:txBody>
      </p:sp>
      <p:sp>
        <p:nvSpPr>
          <p:cNvPr id="16" name="goal-body-2">
            <a:extLst xmlns:a="http://schemas.openxmlformats.org/drawingml/2006/main">
              <a:ext uri="{FF2B5EF4-FFF2-40B4-BE49-F238E27FC236}">
                <a16:creationId xmlns:a16="http://schemas.microsoft.com/office/drawing/2014/main" id="{E39BEF2D-8AB0-43D1-8322-5666219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09950"/>
            <a:ext cx="27813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12B"/>
                </a:solidFill>
                <a:latin typeface="Malgun Gothic"/>
                <a:ea typeface="Malgun Gothic"/>
                <a:cs typeface="Malgun Gothic"/>
              </a:defRPr>
            </a:pPr>
            <a:r>
              <a:t>중앙선과 차선 폭을 기억해 오른쪽 차로에서 왼쪽 차로로 이동합니다.</a:t>
            </a:r>
          </a:p>
        </p:txBody>
      </p:sp>
      <p:sp>
        <p:nvSpPr>
          <p:cNvPr id="17" name="goal-note-2">
            <a:extLst xmlns:a="http://schemas.openxmlformats.org/drawingml/2006/main">
              <a:ext uri="{FF2B5EF4-FFF2-40B4-BE49-F238E27FC236}">
                <a16:creationId xmlns:a16="http://schemas.microsoft.com/office/drawing/2014/main" id="{DA81A520-DFCF-43ED-9035-00A84005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530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점선 공백 보완</a:t>
            </a:r>
          </a:p>
        </p:txBody>
      </p:sp>
      <p:sp>
        <p:nvSpPr>
          <p:cNvPr id="18" name="goal-num-3">
            <a:extLst xmlns:a="http://schemas.openxmlformats.org/drawingml/2006/main">
              <a:ext uri="{FF2B5EF4-FFF2-40B4-BE49-F238E27FC236}">
                <a16:creationId xmlns:a16="http://schemas.microsoft.com/office/drawing/2014/main" id="{607D8C14-9D3D-4A4C-B304-8EC697AC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66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BE1DD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9" name="goal-title-3">
            <a:extLst xmlns:a="http://schemas.openxmlformats.org/drawingml/2006/main">
              <a:ext uri="{FF2B5EF4-FFF2-40B4-BE49-F238E27FC236}">
                <a16:creationId xmlns:a16="http://schemas.microsoft.com/office/drawing/2014/main" id="{FF60D95E-A3C8-4423-8F4C-95FA2093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0"/>
            <a:ext cx="2667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군집주행</a:t>
            </a:r>
          </a:p>
        </p:txBody>
      </p:sp>
      <p:sp>
        <p:nvSpPr>
          <p:cNvPr id="20" name="goal-body-3">
            <a:extLst xmlns:a="http://schemas.openxmlformats.org/drawingml/2006/main">
              <a:ext uri="{FF2B5EF4-FFF2-40B4-BE49-F238E27FC236}">
                <a16:creationId xmlns:a16="http://schemas.microsoft.com/office/drawing/2014/main" id="{78073FF4-6943-40B9-ADD8-45975CDD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09950"/>
            <a:ext cx="27813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선두차량의 직진과 차선 변경 경로를 후미차량이 이어서 추종합니다.</a:t>
            </a:r>
          </a:p>
        </p:txBody>
      </p:sp>
      <p:sp>
        <p:nvSpPr>
          <p:cNvPr id="21" name="goal-note-3">
            <a:extLst xmlns:a="http://schemas.openxmlformats.org/drawingml/2006/main">
              <a:ext uri="{FF2B5EF4-FFF2-40B4-BE49-F238E27FC236}">
                <a16:creationId xmlns:a16="http://schemas.microsoft.com/office/drawing/2014/main" id="{B0135CD9-0459-472A-943E-4AAFDA51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53000"/>
            <a:ext cx="278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FCBD5"/>
                </a:solidFill>
                <a:latin typeface="Malgun Gothic"/>
                <a:ea typeface="Malgun Gothic"/>
                <a:cs typeface="Malgun Gothic"/>
              </a:defRPr>
            </a:pPr>
            <a:r>
              <a:t>후미차량 최대 2대 구성</a:t>
            </a:r>
          </a:p>
        </p:txBody>
      </p:sp>
    </p:spTree>
    <p:extLst>
      <p:ext uri="{BB962C8B-B14F-4D97-AF65-F5344CB8AC3E}">
        <p14:creationId xmlns:p14="http://schemas.microsoft.com/office/powerpoint/2010/main" val="11848493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ule-3">
            <a:extLst xmlns:a="http://schemas.openxmlformats.org/drawingml/2006/main">
              <a:ext uri="{FF2B5EF4-FFF2-40B4-BE49-F238E27FC236}">
                <a16:creationId xmlns:a16="http://schemas.microsoft.com/office/drawing/2014/main" id="{33E63F4C-E0E6-4AAA-8D91-5D194304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1143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2A985FA-A591-412E-AB02-37066C6B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9906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카메라 입력이 조향과 군집주행으로 이어집니다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61E8EB41-9C3E-4493-BBF3-50BDD008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"/>
            <a:ext cx="628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E3327973-BE76-4A8A-9D4D-E9A3D1D3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057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현재 폴더의 코드는 선두차량 인지·제어를 중심으로 구성되어 있습니다.</a:t>
            </a:r>
          </a:p>
        </p:txBody>
      </p:sp>
      <p:cxnSp>
        <p:nvCxnSpPr>
          <p:cNvPr id="36" name="footer-line-3"/>
          <p:cNvCxnSpPr/>
          <p:nvPr/>
        </p:nvCxnSpPr>
        <p:spPr>
          <a:xfrm xmlns:a="http://schemas.openxmlformats.org/drawingml/2006/main">
            <a:off x="457200" y="6457950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6DB"/>
            </a:solidFill>
            <a:prstDash val="solid"/>
          </a:ln>
        </p:spPr>
      </p:cxnSp>
      <p:sp>
        <p:nvSpPr>
          <p:cNvPr id="6" name="footer-text-3">
            <a:extLst xmlns:a="http://schemas.openxmlformats.org/drawingml/2006/main">
              <a:ext uri="{FF2B5EF4-FFF2-40B4-BE49-F238E27FC236}">
                <a16:creationId xmlns:a16="http://schemas.microsoft.com/office/drawing/2014/main" id="{6372E46B-07B2-45ED-BE84-05ACF21D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다중 RC카 차선 인식 및 군집주행</a:t>
            </a:r>
          </a:p>
        </p:txBody>
      </p:sp>
      <p:cxnSp>
        <p:nvCxnSpPr>
          <p:cNvPr id="38" name="arch-c1"/>
          <p:cNvCxnSpPr/>
          <p:nvPr/>
        </p:nvCxnSpPr>
        <p:spPr>
          <a:xfrm xmlns:a="http://schemas.openxmlformats.org/drawingml/2006/main">
            <a:off x="2305050" y="2762250"/>
            <a:ext cx="78105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A6A6"/>
            </a:solidFill>
            <a:prstDash val="solid"/>
          </a:ln>
        </p:spPr>
      </p:cxnSp>
      <p:cxnSp>
        <p:nvCxnSpPr>
          <p:cNvPr id="39" name="arch-c2"/>
          <p:cNvCxnSpPr/>
          <p:nvPr/>
        </p:nvCxnSpPr>
        <p:spPr>
          <a:xfrm xmlns:a="http://schemas.openxmlformats.org/drawingml/2006/main">
            <a:off x="4762500" y="2762250"/>
            <a:ext cx="78105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A6A6"/>
            </a:solidFill>
            <a:prstDash val="solid"/>
          </a:ln>
        </p:spPr>
      </p:cxnSp>
      <p:cxnSp>
        <p:nvCxnSpPr>
          <p:cNvPr id="40" name="arch-c3"/>
          <p:cNvCxnSpPr/>
          <p:nvPr/>
        </p:nvCxnSpPr>
        <p:spPr>
          <a:xfrm xmlns:a="http://schemas.openxmlformats.org/drawingml/2006/main">
            <a:off x="7219950" y="2762250"/>
            <a:ext cx="78105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A6A6"/>
            </a:solidFill>
            <a:prstDash val="solid"/>
          </a:ln>
        </p:spPr>
      </p:cxnSp>
      <p:cxnSp>
        <p:nvCxnSpPr>
          <p:cNvPr id="41" name="arch-down"/>
          <p:cNvCxnSpPr/>
          <p:nvPr/>
        </p:nvCxnSpPr>
        <p:spPr>
          <a:xfrm xmlns:a="http://schemas.openxmlformats.org/drawingml/2006/main">
            <a:off x="9525000" y="3448050"/>
            <a:ext cx="286" cy="6667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A6A6"/>
            </a:solidFill>
            <a:prstDash val="solid"/>
          </a:ln>
        </p:spPr>
      </p:cxnSp>
      <p:cxnSp>
        <p:nvCxnSpPr>
          <p:cNvPr id="42" name="arch-follow"/>
          <p:cNvCxnSpPr/>
          <p:nvPr/>
        </p:nvCxnSpPr>
        <p:spPr>
          <a:xfrm xmlns:a="http://schemas.openxmlformats.org/drawingml/2006/main">
            <a:off x="9525000" y="4724400"/>
            <a:ext cx="286" cy="571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A6A6"/>
            </a:solidFill>
            <a:prstDash val="solid"/>
          </a:ln>
        </p:spPr>
      </p:cxnSp>
      <p:sp>
        <p:nvSpPr>
          <p:cNvPr id="12" name="arch-camera">
            <a:extLst xmlns:a="http://schemas.openxmlformats.org/drawingml/2006/main">
              <a:ext uri="{FF2B5EF4-FFF2-40B4-BE49-F238E27FC236}">
                <a16:creationId xmlns:a16="http://schemas.microsoft.com/office/drawing/2014/main" id="{C57C1B73-6FB6-4DB8-A511-C9C7AD37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1714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13" name="arch-perception">
            <a:extLst xmlns:a="http://schemas.openxmlformats.org/drawingml/2006/main">
              <a:ext uri="{FF2B5EF4-FFF2-40B4-BE49-F238E27FC236}">
                <a16:creationId xmlns:a16="http://schemas.microsoft.com/office/drawing/2014/main" id="{A8E6FCBF-A1C7-4DE1-96FB-DB65E28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33600"/>
            <a:ext cx="1714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14" name="arch-path">
            <a:extLst xmlns:a="http://schemas.openxmlformats.org/drawingml/2006/main">
              <a:ext uri="{FF2B5EF4-FFF2-40B4-BE49-F238E27FC236}">
                <a16:creationId xmlns:a16="http://schemas.microsoft.com/office/drawing/2014/main" id="{81D50B1C-BEB3-44F7-9F10-CC04C531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1714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15" name="arch-leader">
            <a:extLst xmlns:a="http://schemas.openxmlformats.org/drawingml/2006/main">
              <a:ext uri="{FF2B5EF4-FFF2-40B4-BE49-F238E27FC236}">
                <a16:creationId xmlns:a16="http://schemas.microsoft.com/office/drawing/2014/main" id="{3CCC2204-91CB-47A4-8F1B-9646B3EF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31242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23B55"/>
          </a:solidFill>
          <a:ln xmlns:a="http://schemas.openxmlformats.org/drawingml/2006/main" w="0">
            <a:solidFill>
              <a:srgbClr val="123B55"/>
            </a:solidFill>
            <a:prstDash val="solid"/>
          </a:ln>
        </p:spPr>
      </p:sp>
      <p:sp>
        <p:nvSpPr>
          <p:cNvPr id="16" name="arch-follow1">
            <a:extLst xmlns:a="http://schemas.openxmlformats.org/drawingml/2006/main">
              <a:ext uri="{FF2B5EF4-FFF2-40B4-BE49-F238E27FC236}">
                <a16:creationId xmlns:a16="http://schemas.microsoft.com/office/drawing/2014/main" id="{C4FBF764-DC0F-4143-BFA6-EFA4715D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3124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17" name="arch-follow2">
            <a:extLst xmlns:a="http://schemas.openxmlformats.org/drawingml/2006/main">
              <a:ext uri="{FF2B5EF4-FFF2-40B4-BE49-F238E27FC236}">
                <a16:creationId xmlns:a16="http://schemas.microsoft.com/office/drawing/2014/main" id="{FC7F9534-79D6-4C9F-9574-F2F994A0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95900"/>
            <a:ext cx="3124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arch-t1">
            <a:extLst xmlns:a="http://schemas.openxmlformats.org/drawingml/2006/main">
              <a:ext uri="{FF2B5EF4-FFF2-40B4-BE49-F238E27FC236}">
                <a16:creationId xmlns:a16="http://schemas.microsoft.com/office/drawing/2014/main" id="{F02B2474-6F98-4D2C-AF9F-E998DF42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23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카메라</a:t>
            </a:r>
          </a:p>
        </p:txBody>
      </p:sp>
      <p:sp>
        <p:nvSpPr>
          <p:cNvPr id="19" name="arch-b1">
            <a:extLst xmlns:a="http://schemas.openxmlformats.org/drawingml/2006/main">
              <a:ext uri="{FF2B5EF4-FFF2-40B4-BE49-F238E27FC236}">
                <a16:creationId xmlns:a16="http://schemas.microsoft.com/office/drawing/2014/main" id="{45F19D50-E094-44F8-B9B3-3F7CCF45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24175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320×240 / 30 FPS</a:t>
            </a:r>
          </a:p>
        </p:txBody>
      </p:sp>
      <p:sp>
        <p:nvSpPr>
          <p:cNvPr id="20" name="arch-t2">
            <a:extLst xmlns:a="http://schemas.openxmlformats.org/drawingml/2006/main">
              <a:ext uri="{FF2B5EF4-FFF2-40B4-BE49-F238E27FC236}">
                <a16:creationId xmlns:a16="http://schemas.microsoft.com/office/drawing/2014/main" id="{AD61BE58-3F77-48BF-8617-58A93F33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차선 인식</a:t>
            </a:r>
          </a:p>
        </p:txBody>
      </p:sp>
      <p:sp>
        <p:nvSpPr>
          <p:cNvPr id="21" name="arch-b2">
            <a:extLst xmlns:a="http://schemas.openxmlformats.org/drawingml/2006/main">
              <a:ext uri="{FF2B5EF4-FFF2-40B4-BE49-F238E27FC236}">
                <a16:creationId xmlns:a16="http://schemas.microsoft.com/office/drawing/2014/main" id="{4A26ED8F-B97C-4472-BC22-FA231536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4175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OpenCV · YOLO</a:t>
            </a:r>
          </a:p>
        </p:txBody>
      </p:sp>
      <p:sp>
        <p:nvSpPr>
          <p:cNvPr id="22" name="arch-t3">
            <a:extLst xmlns:a="http://schemas.openxmlformats.org/drawingml/2006/main">
              <a:ext uri="{FF2B5EF4-FFF2-40B4-BE49-F238E27FC236}">
                <a16:creationId xmlns:a16="http://schemas.microsoft.com/office/drawing/2014/main" id="{BF394A0F-73D9-4FEB-B7E8-9A02934F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81250"/>
            <a:ext cx="13811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0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경로·PD 제어</a:t>
            </a:r>
          </a:p>
        </p:txBody>
      </p:sp>
      <p:sp>
        <p:nvSpPr>
          <p:cNvPr id="23" name="arch-b3">
            <a:extLst xmlns:a="http://schemas.openxmlformats.org/drawingml/2006/main">
              <a:ext uri="{FF2B5EF4-FFF2-40B4-BE49-F238E27FC236}">
                <a16:creationId xmlns:a16="http://schemas.microsoft.com/office/drawing/2014/main" id="{A6AA978A-7275-44F3-9EF1-337CCF2F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24175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6544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중심 오차 → 조향값</a:t>
            </a:r>
          </a:p>
        </p:txBody>
      </p:sp>
      <p:sp>
        <p:nvSpPr>
          <p:cNvPr id="24" name="arch-t4">
            <a:extLst xmlns:a="http://schemas.openxmlformats.org/drawingml/2006/main">
              <a:ext uri="{FF2B5EF4-FFF2-40B4-BE49-F238E27FC236}">
                <a16:creationId xmlns:a16="http://schemas.microsoft.com/office/drawing/2014/main" id="{70A2EDD7-0133-414C-AA90-B60A3BED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238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8039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선두차량</a:t>
            </a:r>
          </a:p>
        </p:txBody>
      </p:sp>
      <p:sp>
        <p:nvSpPr>
          <p:cNvPr id="25" name="arch-b4">
            <a:extLst xmlns:a="http://schemas.openxmlformats.org/drawingml/2006/main">
              <a:ext uri="{FF2B5EF4-FFF2-40B4-BE49-F238E27FC236}">
                <a16:creationId xmlns:a16="http://schemas.microsoft.com/office/drawing/2014/main" id="{1E7E0147-0E73-4C56-AC3A-94569586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24175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813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EF2"/>
                </a:solidFill>
                <a:latin typeface="Malgun Gothic"/>
                <a:ea typeface="Malgun Gothic"/>
                <a:cs typeface="Malgun Gothic"/>
              </a:defRPr>
            </a:pPr>
            <a:r>
              <a:t>라인 추종 · 차선 변경 · 안전 정지</a:t>
            </a:r>
          </a:p>
        </p:txBody>
      </p:sp>
      <p:sp>
        <p:nvSpPr>
          <p:cNvPr id="26" name="arch-f1">
            <a:extLst xmlns:a="http://schemas.openxmlformats.org/drawingml/2006/main">
              <a:ext uri="{FF2B5EF4-FFF2-40B4-BE49-F238E27FC236}">
                <a16:creationId xmlns:a16="http://schemas.microsoft.com/office/drawing/2014/main" id="{077D7140-2CB6-4571-9745-23DF2CA3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2524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402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후미차량 1  |  영상 시연 포함</a:t>
            </a:r>
          </a:p>
        </p:txBody>
      </p:sp>
      <p:sp>
        <p:nvSpPr>
          <p:cNvPr id="27" name="arch-f2">
            <a:extLst xmlns:a="http://schemas.openxmlformats.org/drawingml/2006/main">
              <a:ext uri="{FF2B5EF4-FFF2-40B4-BE49-F238E27FC236}">
                <a16:creationId xmlns:a16="http://schemas.microsoft.com/office/drawing/2014/main" id="{C255F329-95EF-4899-9CC4-5B38DBF2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673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7956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A6200"/>
                </a:solidFill>
                <a:latin typeface="Malgun Gothic"/>
                <a:ea typeface="Malgun Gothic"/>
                <a:cs typeface="Malgun Gothic"/>
              </a:defRPr>
            </a:pPr>
            <a:r>
              <a:t>후미차량 2  |  전체 구성, 영상 미사용</a:t>
            </a:r>
          </a:p>
        </p:txBody>
      </p:sp>
      <p:sp>
        <p:nvSpPr>
          <p:cNvPr id="28" name="arch-control">
            <a:extLst xmlns:a="http://schemas.openxmlformats.org/drawingml/2006/main">
              <a:ext uri="{FF2B5EF4-FFF2-40B4-BE49-F238E27FC236}">
                <a16:creationId xmlns:a16="http://schemas.microsoft.com/office/drawing/2014/main" id="{52B89A6D-AF6F-4CEF-BB64-268E7A09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600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1F4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29" name="arch-control-title">
            <a:extLst xmlns:a="http://schemas.openxmlformats.org/drawingml/2006/main">
              <a:ext uri="{FF2B5EF4-FFF2-40B4-BE49-F238E27FC236}">
                <a16:creationId xmlns:a16="http://schemas.microsoft.com/office/drawing/2014/main" id="{D2060B1D-14C3-469F-9108-7C105563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통합 제어 기능</a:t>
            </a:r>
          </a:p>
        </p:txBody>
      </p:sp>
      <p:sp>
        <p:nvSpPr>
          <p:cNvPr id="30" name="arch-control-body">
            <a:extLst xmlns:a="http://schemas.openxmlformats.org/drawingml/2006/main">
              <a:ext uri="{FF2B5EF4-FFF2-40B4-BE49-F238E27FC236}">
                <a16:creationId xmlns:a16="http://schemas.microsoft.com/office/drawing/2014/main" id="{0D597B8A-69AB-46B4-9404-A89E89CD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419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Malgun Gothic"/>
                <a:ea typeface="Malgun Gothic"/>
                <a:cs typeface="Malgun Gothic"/>
              </a:defRPr>
            </a:pPr>
            <a:r>
              <a:t>깜빡이 · 비상 정지 · 차량 상태 제어</a:t>
            </a:r>
          </a:p>
        </p:txBody>
      </p:sp>
      <p:sp>
        <p:nvSpPr>
          <p:cNvPr id="31" name="arch-control-note">
            <a:extLst xmlns:a="http://schemas.openxmlformats.org/drawingml/2006/main">
              <a:ext uri="{FF2B5EF4-FFF2-40B4-BE49-F238E27FC236}">
                <a16:creationId xmlns:a16="http://schemas.microsoft.com/office/drawing/2014/main" id="{8B8F57C4-64A7-42CA-B6ED-6073FF27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6200"/>
                </a:solidFill>
                <a:latin typeface="Malgun Gothic"/>
                <a:ea typeface="Malgun Gothic"/>
                <a:cs typeface="Malgun Gothic"/>
              </a:defRPr>
            </a:pPr>
            <a:r>
              <a:t>이번 시연 영상에는 미촬영</a:t>
            </a:r>
          </a:p>
        </p:txBody>
      </p:sp>
    </p:spTree>
    <p:extLst>
      <p:ext uri="{BB962C8B-B14F-4D97-AF65-F5344CB8AC3E}">
        <p14:creationId xmlns:p14="http://schemas.microsoft.com/office/powerpoint/2010/main" val="7433963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ule-4">
            <a:extLst xmlns:a="http://schemas.openxmlformats.org/drawingml/2006/main">
              <a:ext uri="{FF2B5EF4-FFF2-40B4-BE49-F238E27FC236}">
                <a16:creationId xmlns:a16="http://schemas.microsoft.com/office/drawing/2014/main" id="{30B4DCBD-8D2A-40F3-B38E-F32ADAA7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1143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2719B1A-76EA-40E4-9671-F50E6E15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9906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중앙선 기억이 차선 변경을 안정화합니다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7A495695-61D6-4C7F-A90F-6EB16C82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"/>
            <a:ext cx="628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0BDDEE03-BE07-4A3E-ADDD-0A3B0566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057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단일 라인 추종에서 복수 경계선과 중앙선 기억 방식으로 단계적으로 확장했습니다.</a:t>
            </a:r>
          </a:p>
        </p:txBody>
      </p:sp>
      <p:cxnSp>
        <p:nvCxnSpPr>
          <p:cNvPr id="31" name="footer-line-4"/>
          <p:cNvCxnSpPr/>
          <p:nvPr/>
        </p:nvCxnSpPr>
        <p:spPr>
          <a:xfrm xmlns:a="http://schemas.openxmlformats.org/drawingml/2006/main">
            <a:off x="457200" y="6457950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6DB"/>
            </a:solidFill>
            <a:prstDash val="solid"/>
          </a:ln>
        </p:spPr>
      </p:cxnSp>
      <p:sp>
        <p:nvSpPr>
          <p:cNvPr id="6" name="footer-text-4">
            <a:extLst xmlns:a="http://schemas.openxmlformats.org/drawingml/2006/main">
              <a:ext uri="{FF2B5EF4-FFF2-40B4-BE49-F238E27FC236}">
                <a16:creationId xmlns:a16="http://schemas.microsoft.com/office/drawing/2014/main" id="{5A6F7DEA-833E-4BD3-9546-FD06F11D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다중 RC카 차선 인식 및 군집주행</a:t>
            </a:r>
          </a:p>
        </p:txBody>
      </p:sp>
      <p:cxnSp>
        <p:nvCxnSpPr>
          <p:cNvPr id="33" name="alg-line"/>
          <p:cNvCxnSpPr/>
          <p:nvPr/>
        </p:nvCxnSpPr>
        <p:spPr>
          <a:xfrm xmlns:a="http://schemas.openxmlformats.org/drawingml/2006/main">
            <a:off x="971550" y="3114675"/>
            <a:ext cx="981075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CD6DB"/>
            </a:solidFill>
            <a:prstDash val="solid"/>
          </a:ln>
        </p:spPr>
      </p:cxnSp>
      <p:sp>
        <p:nvSpPr>
          <p:cNvPr id="8" name="alg-node-1">
            <a:extLst xmlns:a="http://schemas.openxmlformats.org/drawingml/2006/main">
              <a:ext uri="{FF2B5EF4-FFF2-40B4-BE49-F238E27FC236}">
                <a16:creationId xmlns:a16="http://schemas.microsoft.com/office/drawing/2014/main" id="{1370E973-4B48-4A4E-A3FB-EAC61A33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5"/>
          </a:solidFill>
          <a:ln xmlns:a="http://schemas.openxmlformats.org/drawingml/2006/main" w="0">
            <a:solidFill>
              <a:srgbClr val="123B55"/>
            </a:solidFill>
            <a:prstDash val="solid"/>
          </a:ln>
        </p:spPr>
      </p:sp>
      <p:sp>
        <p:nvSpPr>
          <p:cNvPr id="9" name="alg-num-1">
            <a:extLst xmlns:a="http://schemas.openxmlformats.org/drawingml/2006/main">
              <a:ext uri="{FF2B5EF4-FFF2-40B4-BE49-F238E27FC236}">
                <a16:creationId xmlns:a16="http://schemas.microsoft.com/office/drawing/2014/main" id="{5F0CDB35-73FF-42B2-8D1A-64530AE3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24175"/>
            <a:ext cx="28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10" name="alg-title-1">
            <a:extLst xmlns:a="http://schemas.openxmlformats.org/drawingml/2006/main">
              <a:ext uri="{FF2B5EF4-FFF2-40B4-BE49-F238E27FC236}">
                <a16:creationId xmlns:a16="http://schemas.microsoft.com/office/drawing/2014/main" id="{542D69B4-1BA2-493C-A9D5-792B2426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ROI 추출</a:t>
            </a:r>
          </a:p>
        </p:txBody>
      </p:sp>
      <p:sp>
        <p:nvSpPr>
          <p:cNvPr id="11" name="alg-body-1">
            <a:extLst xmlns:a="http://schemas.openxmlformats.org/drawingml/2006/main">
              <a:ext uri="{FF2B5EF4-FFF2-40B4-BE49-F238E27FC236}">
                <a16:creationId xmlns:a16="http://schemas.microsoft.com/office/drawing/2014/main" id="{3C82AA42-AE0A-46AD-950B-220710A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1857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하단 관심 영역에서
차선 후보를 선별</a:t>
            </a:r>
          </a:p>
        </p:txBody>
      </p:sp>
      <p:sp>
        <p:nvSpPr>
          <p:cNvPr id="12" name="alg-node-2">
            <a:extLst xmlns:a="http://schemas.openxmlformats.org/drawingml/2006/main">
              <a:ext uri="{FF2B5EF4-FFF2-40B4-BE49-F238E27FC236}">
                <a16:creationId xmlns:a16="http://schemas.microsoft.com/office/drawing/2014/main" id="{C74916E2-B65B-4C87-9E57-10572B38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5"/>
          </a:solidFill>
          <a:ln xmlns:a="http://schemas.openxmlformats.org/drawingml/2006/main" w="0">
            <a:solidFill>
              <a:srgbClr val="123B55"/>
            </a:solidFill>
            <a:prstDash val="solid"/>
          </a:ln>
        </p:spPr>
      </p:sp>
      <p:sp>
        <p:nvSpPr>
          <p:cNvPr id="13" name="alg-num-2">
            <a:extLst xmlns:a="http://schemas.openxmlformats.org/drawingml/2006/main">
              <a:ext uri="{FF2B5EF4-FFF2-40B4-BE49-F238E27FC236}">
                <a16:creationId xmlns:a16="http://schemas.microsoft.com/office/drawing/2014/main" id="{2DE09A78-BEBB-4C22-9CA8-74165470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24175"/>
            <a:ext cx="28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14" name="alg-title-2">
            <a:extLst xmlns:a="http://schemas.openxmlformats.org/drawingml/2006/main">
              <a:ext uri="{FF2B5EF4-FFF2-40B4-BE49-F238E27FC236}">
                <a16:creationId xmlns:a16="http://schemas.microsoft.com/office/drawing/2014/main" id="{AC3EDFDF-9EC4-4760-B996-50E8F090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3380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경계 모델</a:t>
            </a:r>
          </a:p>
        </p:txBody>
      </p:sp>
      <p:sp>
        <p:nvSpPr>
          <p:cNvPr id="15" name="alg-body-2">
            <a:extLst xmlns:a="http://schemas.openxmlformats.org/drawingml/2006/main">
              <a:ext uri="{FF2B5EF4-FFF2-40B4-BE49-F238E27FC236}">
                <a16:creationId xmlns:a16="http://schemas.microsoft.com/office/drawing/2014/main" id="{82DAF39A-570E-4A84-B8B0-32F415FC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48150"/>
            <a:ext cx="1857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LEFT-MIDDLE-RIGHT
세 경계를 군집화</a:t>
            </a:r>
          </a:p>
        </p:txBody>
      </p:sp>
      <p:sp>
        <p:nvSpPr>
          <p:cNvPr id="16" name="alg-node-3">
            <a:extLst xmlns:a="http://schemas.openxmlformats.org/drawingml/2006/main">
              <a:ext uri="{FF2B5EF4-FFF2-40B4-BE49-F238E27FC236}">
                <a16:creationId xmlns:a16="http://schemas.microsoft.com/office/drawing/2014/main" id="{C596B271-2FE7-49FD-8598-25BDCEB9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7" name="alg-num-3">
            <a:extLst xmlns:a="http://schemas.openxmlformats.org/drawingml/2006/main">
              <a:ext uri="{FF2B5EF4-FFF2-40B4-BE49-F238E27FC236}">
                <a16:creationId xmlns:a16="http://schemas.microsoft.com/office/drawing/2014/main" id="{157C16E9-62DB-474D-9BA0-B98FD517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24175"/>
            <a:ext cx="28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8" name="alg-title-3">
            <a:extLst xmlns:a="http://schemas.openxmlformats.org/drawingml/2006/main">
              <a:ext uri="{FF2B5EF4-FFF2-40B4-BE49-F238E27FC236}">
                <a16:creationId xmlns:a16="http://schemas.microsoft.com/office/drawing/2014/main" id="{1DBB12B2-3CC1-4B71-8055-BC87FB1C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3380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중앙선 기억</a:t>
            </a:r>
          </a:p>
        </p:txBody>
      </p:sp>
      <p:sp>
        <p:nvSpPr>
          <p:cNvPr id="19" name="alg-body-3">
            <a:extLst xmlns:a="http://schemas.openxmlformats.org/drawingml/2006/main">
              <a:ext uri="{FF2B5EF4-FFF2-40B4-BE49-F238E27FC236}">
                <a16:creationId xmlns:a16="http://schemas.microsoft.com/office/drawing/2014/main" id="{DEDC48CE-997E-4D89-A85D-29AF83BC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48150"/>
            <a:ext cx="1857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출발 시 중앙선과
차선 폭을 저장</a:t>
            </a:r>
          </a:p>
        </p:txBody>
      </p:sp>
      <p:sp>
        <p:nvSpPr>
          <p:cNvPr id="20" name="alg-node-4">
            <a:extLst xmlns:a="http://schemas.openxmlformats.org/drawingml/2006/main">
              <a:ext uri="{FF2B5EF4-FFF2-40B4-BE49-F238E27FC236}">
                <a16:creationId xmlns:a16="http://schemas.microsoft.com/office/drawing/2014/main" id="{10D417FE-9D6B-455C-BF3F-FEB2352C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5"/>
          </a:solidFill>
          <a:ln xmlns:a="http://schemas.openxmlformats.org/drawingml/2006/main" w="0">
            <a:solidFill>
              <a:srgbClr val="123B55"/>
            </a:solidFill>
            <a:prstDash val="solid"/>
          </a:ln>
        </p:spPr>
      </p:sp>
      <p:sp>
        <p:nvSpPr>
          <p:cNvPr id="21" name="alg-num-4">
            <a:extLst xmlns:a="http://schemas.openxmlformats.org/drawingml/2006/main">
              <a:ext uri="{FF2B5EF4-FFF2-40B4-BE49-F238E27FC236}">
                <a16:creationId xmlns:a16="http://schemas.microsoft.com/office/drawing/2014/main" id="{3563FA80-2AB6-48BE-A092-95E487F6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24175"/>
            <a:ext cx="28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22" name="alg-title-4">
            <a:extLst xmlns:a="http://schemas.openxmlformats.org/drawingml/2006/main">
              <a:ext uri="{FF2B5EF4-FFF2-40B4-BE49-F238E27FC236}">
                <a16:creationId xmlns:a16="http://schemas.microsoft.com/office/drawing/2014/main" id="{055058FB-CC74-43BE-8A64-2230991A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3800"/>
            <a:ext cx="152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완료 판정</a:t>
            </a:r>
          </a:p>
        </p:txBody>
      </p:sp>
      <p:sp>
        <p:nvSpPr>
          <p:cNvPr id="23" name="alg-body-4">
            <a:extLst xmlns:a="http://schemas.openxmlformats.org/drawingml/2006/main">
              <a:ext uri="{FF2B5EF4-FFF2-40B4-BE49-F238E27FC236}">
                <a16:creationId xmlns:a16="http://schemas.microsoft.com/office/drawing/2014/main" id="{9901FBEB-9827-4563-AC35-E98FEF21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48150"/>
            <a:ext cx="1857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중앙선 통과와
안정 프레임 확인</a:t>
            </a:r>
          </a:p>
        </p:txBody>
      </p:sp>
      <p:sp>
        <p:nvSpPr>
          <p:cNvPr id="24" name="alg-files">
            <a:extLst xmlns:a="http://schemas.openxmlformats.org/drawingml/2006/main">
              <a:ext uri="{FF2B5EF4-FFF2-40B4-BE49-F238E27FC236}">
                <a16:creationId xmlns:a16="http://schemas.microsoft.com/office/drawing/2014/main" id="{1AE48AC5-B9D5-460C-BE8D-91DADE0E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47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25" name="alg-files-label">
            <a:extLst xmlns:a="http://schemas.openxmlformats.org/drawingml/2006/main">
              <a:ext uri="{FF2B5EF4-FFF2-40B4-BE49-F238E27FC236}">
                <a16:creationId xmlns:a16="http://schemas.microsoft.com/office/drawing/2014/main" id="{8FCCB623-ED48-469B-A931-BD6516E1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23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Malgun Gothic"/>
                <a:ea typeface="Malgun Gothic"/>
                <a:cs typeface="Malgun Gothic"/>
              </a:defRPr>
            </a:pPr>
            <a:r>
              <a:t>모듈 흐름</a:t>
            </a:r>
          </a:p>
        </p:txBody>
      </p:sp>
      <p:sp>
        <p:nvSpPr>
          <p:cNvPr id="26" name="alg-files-text">
            <a:extLst xmlns:a="http://schemas.openxmlformats.org/drawingml/2006/main">
              <a:ext uri="{FF2B5EF4-FFF2-40B4-BE49-F238E27FC236}">
                <a16:creationId xmlns:a16="http://schemas.microsoft.com/office/drawing/2014/main" id="{137DCD4D-FCED-4ED3-ABD9-92A632DC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19750"/>
            <a:ext cx="847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212B"/>
                </a:solidFill>
                <a:latin typeface="Malgun Gothic"/>
                <a:ea typeface="Malgun Gothic"/>
                <a:cs typeface="Malgun Gothic"/>
              </a:defRPr>
            </a:pPr>
            <a:r>
              <a:t>lane_follow → lane_space_preview → steering_test → web_dashboard → center_memory</a:t>
            </a:r>
          </a:p>
        </p:txBody>
      </p:sp>
    </p:spTree>
    <p:extLst>
      <p:ext uri="{BB962C8B-B14F-4D97-AF65-F5344CB8AC3E}">
        <p14:creationId xmlns:p14="http://schemas.microsoft.com/office/powerpoint/2010/main" val="327733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-5">
            <a:extLst xmlns:a="http://schemas.openxmlformats.org/drawingml/2006/main">
              <a:ext uri="{FF2B5EF4-FFF2-40B4-BE49-F238E27FC236}">
                <a16:creationId xmlns:a16="http://schemas.microsoft.com/office/drawing/2014/main" id="{F730C711-F2F4-4048-9908-1869F189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1143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9871307-9935-4E54-8349-7C87734F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9906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인식이 불안정하면 계속 주행하지 않고 멈춥니다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9477A0D5-A4C2-4EE9-B7B7-A537BF89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"/>
            <a:ext cx="628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52DD7316-3649-4B47-84A3-B6CDB2C9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057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실차 제어는 안정 프레임, 시간 제한, 데이터 신선도를 함께 검사합니다.</a:t>
            </a:r>
          </a:p>
        </p:txBody>
      </p:sp>
      <p:cxnSp>
        <p:nvCxnSpPr>
          <p:cNvPr id="27" name="footer-line-5"/>
          <p:cNvCxnSpPr/>
          <p:nvPr/>
        </p:nvCxnSpPr>
        <p:spPr>
          <a:xfrm xmlns:a="http://schemas.openxmlformats.org/drawingml/2006/main">
            <a:off x="457200" y="6457950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6DB"/>
            </a:solidFill>
            <a:prstDash val="solid"/>
          </a:ln>
        </p:spPr>
      </p:cxnSp>
      <p:sp>
        <p:nvSpPr>
          <p:cNvPr id="6" name="footer-text-5">
            <a:extLst xmlns:a="http://schemas.openxmlformats.org/drawingml/2006/main">
              <a:ext uri="{FF2B5EF4-FFF2-40B4-BE49-F238E27FC236}">
                <a16:creationId xmlns:a16="http://schemas.microsoft.com/office/drawing/2014/main" id="{EE6B6C61-F522-4A3D-A9A7-6B1D70AC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다중 RC카 차선 인식 및 군집주행</a:t>
            </a:r>
          </a:p>
        </p:txBody>
      </p:sp>
      <p:sp>
        <p:nvSpPr>
          <p:cNvPr id="7" name="safe-0">
            <a:extLst xmlns:a="http://schemas.openxmlformats.org/drawingml/2006/main">
              <a:ext uri="{FF2B5EF4-FFF2-40B4-BE49-F238E27FC236}">
                <a16:creationId xmlns:a16="http://schemas.microsoft.com/office/drawing/2014/main" id="{B3519EBF-CC02-4CA7-9398-18AA4E3D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8" name="safe-num-0">
            <a:extLst xmlns:a="http://schemas.openxmlformats.org/drawingml/2006/main">
              <a:ext uri="{FF2B5EF4-FFF2-40B4-BE49-F238E27FC236}">
                <a16:creationId xmlns:a16="http://schemas.microsoft.com/office/drawing/2014/main" id="{EF2058CB-FC84-431C-A251-65F57403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A6A6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9" name="safe-title-0">
            <a:extLst xmlns:a="http://schemas.openxmlformats.org/drawingml/2006/main">
              <a:ext uri="{FF2B5EF4-FFF2-40B4-BE49-F238E27FC236}">
                <a16:creationId xmlns:a16="http://schemas.microsoft.com/office/drawing/2014/main" id="{47B36483-45E0-46F7-990A-A3500858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95500"/>
            <a:ext cx="371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차선 소실</a:t>
            </a:r>
          </a:p>
        </p:txBody>
      </p:sp>
      <p:sp>
        <p:nvSpPr>
          <p:cNvPr id="10" name="safe-body-0">
            <a:extLst xmlns:a="http://schemas.openxmlformats.org/drawingml/2006/main">
              <a:ext uri="{FF2B5EF4-FFF2-40B4-BE49-F238E27FC236}">
                <a16:creationId xmlns:a16="http://schemas.microsoft.com/office/drawing/2014/main" id="{4708D171-1AB3-467C-B380-25DC4017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47950"/>
            <a:ext cx="3714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Malgun Gothic"/>
                <a:ea typeface="Malgun Gothic"/>
                <a:cs typeface="Malgun Gothic"/>
              </a:defRPr>
            </a:pPr>
            <a:r>
              <a:t>허용 프레임을 넘기면
모터를 즉시 정지</a:t>
            </a:r>
          </a:p>
        </p:txBody>
      </p:sp>
      <p:sp>
        <p:nvSpPr>
          <p:cNvPr id="11" name="safe-1">
            <a:extLst xmlns:a="http://schemas.openxmlformats.org/drawingml/2006/main">
              <a:ext uri="{FF2B5EF4-FFF2-40B4-BE49-F238E27FC236}">
                <a16:creationId xmlns:a16="http://schemas.microsoft.com/office/drawing/2014/main" id="{5E0252BF-4003-4283-8B74-6CDC3644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12" name="safe-num-1">
            <a:extLst xmlns:a="http://schemas.openxmlformats.org/drawingml/2006/main">
              <a:ext uri="{FF2B5EF4-FFF2-40B4-BE49-F238E27FC236}">
                <a16:creationId xmlns:a16="http://schemas.microsoft.com/office/drawing/2014/main" id="{6C370686-CF4D-46D8-92B7-91B736A5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05025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A6A6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3" name="safe-title-1">
            <a:extLst xmlns:a="http://schemas.openxmlformats.org/drawingml/2006/main">
              <a:ext uri="{FF2B5EF4-FFF2-40B4-BE49-F238E27FC236}">
                <a16:creationId xmlns:a16="http://schemas.microsoft.com/office/drawing/2014/main" id="{8A1DD504-5F6B-45A9-8055-66FEDF6D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371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전환 시간 초과</a:t>
            </a:r>
          </a:p>
        </p:txBody>
      </p:sp>
      <p:sp>
        <p:nvSpPr>
          <p:cNvPr id="14" name="safe-body-1">
            <a:extLst xmlns:a="http://schemas.openxmlformats.org/drawingml/2006/main">
              <a:ext uri="{FF2B5EF4-FFF2-40B4-BE49-F238E27FC236}">
                <a16:creationId xmlns:a16="http://schemas.microsoft.com/office/drawing/2014/main" id="{4BB1C4E5-0051-48C6-9B58-16682D3D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47950"/>
            <a:ext cx="3714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Malgun Gothic"/>
                <a:ea typeface="Malgun Gothic"/>
                <a:cs typeface="Malgun Gothic"/>
              </a:defRPr>
            </a:pPr>
            <a:r>
              <a:t>차선 변경이 12초를 넘으면
조향과 주행을 해제</a:t>
            </a:r>
          </a:p>
        </p:txBody>
      </p:sp>
      <p:sp>
        <p:nvSpPr>
          <p:cNvPr id="15" name="safe-2">
            <a:extLst xmlns:a="http://schemas.openxmlformats.org/drawingml/2006/main">
              <a:ext uri="{FF2B5EF4-FFF2-40B4-BE49-F238E27FC236}">
                <a16:creationId xmlns:a16="http://schemas.microsoft.com/office/drawing/2014/main" id="{44D2F518-7CB8-4DE7-9CB9-8C5E4EA1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16" name="safe-num-2">
            <a:extLst xmlns:a="http://schemas.openxmlformats.org/drawingml/2006/main">
              <a:ext uri="{FF2B5EF4-FFF2-40B4-BE49-F238E27FC236}">
                <a16:creationId xmlns:a16="http://schemas.microsoft.com/office/drawing/2014/main" id="{3A1E84AD-FEE3-4295-B234-294E9E5D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A6A6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7" name="safe-title-2">
            <a:extLst xmlns:a="http://schemas.openxmlformats.org/drawingml/2006/main">
              <a:ext uri="{FF2B5EF4-FFF2-40B4-BE49-F238E27FC236}">
                <a16:creationId xmlns:a16="http://schemas.microsoft.com/office/drawing/2014/main" id="{CF827167-9FEE-441D-B626-7B4DFD55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371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오래된 추론 결과</a:t>
            </a:r>
          </a:p>
        </p:txBody>
      </p:sp>
      <p:sp>
        <p:nvSpPr>
          <p:cNvPr id="18" name="safe-body-2">
            <a:extLst xmlns:a="http://schemas.openxmlformats.org/drawingml/2006/main">
              <a:ext uri="{FF2B5EF4-FFF2-40B4-BE49-F238E27FC236}">
                <a16:creationId xmlns:a16="http://schemas.microsoft.com/office/drawing/2014/main" id="{21CAC1E6-C0F3-4EFE-A4C5-0F438923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3714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Malgun Gothic"/>
                <a:ea typeface="Malgun Gothic"/>
                <a:cs typeface="Malgun Gothic"/>
              </a:defRPr>
            </a:pPr>
            <a:r>
              <a:t>YOLO 결과와 자동 명령의
유효 시간을 제한</a:t>
            </a:r>
          </a:p>
        </p:txBody>
      </p:sp>
      <p:sp>
        <p:nvSpPr>
          <p:cNvPr id="19" name="safe-3">
            <a:extLst xmlns:a="http://schemas.openxmlformats.org/drawingml/2006/main">
              <a:ext uri="{FF2B5EF4-FFF2-40B4-BE49-F238E27FC236}">
                <a16:creationId xmlns:a16="http://schemas.microsoft.com/office/drawing/2014/main" id="{EF1E38C5-2CA6-43AE-BA1B-434DD73E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B55"/>
          </a:solidFill>
          <a:ln xmlns:a="http://schemas.openxmlformats.org/drawingml/2006/main" w="9525">
            <a:solidFill>
              <a:srgbClr val="123B55"/>
            </a:solidFill>
            <a:prstDash val="solid"/>
          </a:ln>
        </p:spPr>
      </p:sp>
      <p:sp>
        <p:nvSpPr>
          <p:cNvPr id="20" name="safe-num-3">
            <a:extLst xmlns:a="http://schemas.openxmlformats.org/drawingml/2006/main">
              <a:ext uri="{FF2B5EF4-FFF2-40B4-BE49-F238E27FC236}">
                <a16:creationId xmlns:a16="http://schemas.microsoft.com/office/drawing/2014/main" id="{006E3060-8C47-4652-B51A-B05891D4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43375"/>
            <a:ext cx="55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BE1DD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21" name="safe-title-3">
            <a:extLst xmlns:a="http://schemas.openxmlformats.org/drawingml/2006/main">
              <a:ext uri="{FF2B5EF4-FFF2-40B4-BE49-F238E27FC236}">
                <a16:creationId xmlns:a16="http://schemas.microsoft.com/office/drawing/2014/main" id="{EF946EEF-19EB-4D02-918C-21E6145A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33850"/>
            <a:ext cx="371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단계별 검증</a:t>
            </a:r>
          </a:p>
        </p:txBody>
      </p:sp>
      <p:sp>
        <p:nvSpPr>
          <p:cNvPr id="22" name="safe-body-3">
            <a:extLst xmlns:a="http://schemas.openxmlformats.org/drawingml/2006/main">
              <a:ext uri="{FF2B5EF4-FFF2-40B4-BE49-F238E27FC236}">
                <a16:creationId xmlns:a16="http://schemas.microsoft.com/office/drawing/2014/main" id="{FCDB4B4C-5EE1-4221-80C6-C1BE8BCA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86300"/>
            <a:ext cx="3714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EEF2"/>
                </a:solidFill>
                <a:latin typeface="Malgun Gothic"/>
                <a:ea typeface="Malgun Gothic"/>
                <a:cs typeface="Malgun Gothic"/>
              </a:defRPr>
            </a:pPr>
            <a:r>
              <a:t>영상만 → 조향만 →
저속 실차 시험</a:t>
            </a:r>
          </a:p>
        </p:txBody>
      </p:sp>
    </p:spTree>
    <p:extLst>
      <p:ext uri="{BB962C8B-B14F-4D97-AF65-F5344CB8AC3E}">
        <p14:creationId xmlns:p14="http://schemas.microsoft.com/office/powerpoint/2010/main" val="738692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ule-6">
            <a:extLst xmlns:a="http://schemas.openxmlformats.org/drawingml/2006/main">
              <a:ext uri="{FF2B5EF4-FFF2-40B4-BE49-F238E27FC236}">
                <a16:creationId xmlns:a16="http://schemas.microsoft.com/office/drawing/2014/main" id="{725B70C9-76B5-48A0-A38E-E51E4A1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11430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F4BFF761-B54E-4F87-9899-91CD23D9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9906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영상은 세 단계의 연결 동작을 보여줍니다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B3DF4BFE-6FF3-4A41-9061-62F3933E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"/>
            <a:ext cx="628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7D566E94-EFCA-49C8-9C3D-88BD350E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057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통합 대시보드와 안전 제어 기능은 구현됐지만 영상에는 포함하지 않았습니다.</a:t>
            </a:r>
          </a:p>
        </p:txBody>
      </p:sp>
      <p:cxnSp>
        <p:nvCxnSpPr>
          <p:cNvPr id="28" name="footer-line-6"/>
          <p:cNvCxnSpPr/>
          <p:nvPr/>
        </p:nvCxnSpPr>
        <p:spPr>
          <a:xfrm xmlns:a="http://schemas.openxmlformats.org/drawingml/2006/main">
            <a:off x="457200" y="6457950"/>
            <a:ext cx="11277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6DB"/>
            </a:solidFill>
            <a:prstDash val="solid"/>
          </a:ln>
        </p:spPr>
      </p:cxnSp>
      <p:sp>
        <p:nvSpPr>
          <p:cNvPr id="6" name="footer-text-6">
            <a:extLst xmlns:a="http://schemas.openxmlformats.org/drawingml/2006/main">
              <a:ext uri="{FF2B5EF4-FFF2-40B4-BE49-F238E27FC236}">
                <a16:creationId xmlns:a16="http://schemas.microsoft.com/office/drawing/2014/main" id="{1EA4D72B-46CE-4EF5-9496-8BD08C37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다중 RC카 차선 인식 및 군집주행</a:t>
            </a:r>
          </a:p>
        </p:txBody>
      </p:sp>
      <p:cxnSp>
        <p:nvCxnSpPr>
          <p:cNvPr id="30" name="demo-line-1"/>
          <p:cNvCxnSpPr/>
          <p:nvPr/>
        </p:nvCxnSpPr>
        <p:spPr>
          <a:xfrm xmlns:a="http://schemas.openxmlformats.org/drawingml/2006/main">
            <a:off x="2762250" y="3429000"/>
            <a:ext cx="104775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A6A6"/>
            </a:solidFill>
            <a:prstDash val="solid"/>
          </a:ln>
        </p:spPr>
      </p:cxnSp>
      <p:cxnSp>
        <p:nvCxnSpPr>
          <p:cNvPr id="31" name="demo-line-2"/>
          <p:cNvCxnSpPr/>
          <p:nvPr/>
        </p:nvCxnSpPr>
        <p:spPr>
          <a:xfrm xmlns:a="http://schemas.openxmlformats.org/drawingml/2006/main">
            <a:off x="6572250" y="3429000"/>
            <a:ext cx="104775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A6A6"/>
            </a:solidFill>
            <a:prstDash val="solid"/>
          </a:ln>
        </p:spPr>
      </p:cxnSp>
      <p:sp>
        <p:nvSpPr>
          <p:cNvPr id="9" name="demo-card-01">
            <a:extLst xmlns:a="http://schemas.openxmlformats.org/drawingml/2006/main">
              <a:ext uri="{FF2B5EF4-FFF2-40B4-BE49-F238E27FC236}">
                <a16:creationId xmlns:a16="http://schemas.microsoft.com/office/drawing/2014/main" id="{E9A89E6E-0F7A-416D-999C-965150EE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31242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10" name="demo-num-01">
            <a:extLst xmlns:a="http://schemas.openxmlformats.org/drawingml/2006/main">
              <a:ext uri="{FF2B5EF4-FFF2-40B4-BE49-F238E27FC236}">
                <a16:creationId xmlns:a16="http://schemas.microsoft.com/office/drawing/2014/main" id="{3EE5E979-90A7-4426-9BF2-BFE87827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647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6A6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11" name="demo-title-01">
            <a:extLst xmlns:a="http://schemas.openxmlformats.org/drawingml/2006/main">
              <a:ext uri="{FF2B5EF4-FFF2-40B4-BE49-F238E27FC236}">
                <a16:creationId xmlns:a16="http://schemas.microsoft.com/office/drawing/2014/main" id="{0238595D-D610-420F-99A0-492B6E3B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590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라인 추종</a:t>
            </a:r>
          </a:p>
        </p:txBody>
      </p:sp>
      <p:sp>
        <p:nvSpPr>
          <p:cNvPr id="12" name="demo-body-01">
            <a:extLst xmlns:a="http://schemas.openxmlformats.org/drawingml/2006/main">
              <a:ext uri="{FF2B5EF4-FFF2-40B4-BE49-F238E27FC236}">
                <a16:creationId xmlns:a16="http://schemas.microsoft.com/office/drawing/2014/main" id="{E2C103E0-A5B3-4981-99B9-39735CD3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2571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12B"/>
                </a:solidFill>
                <a:latin typeface="Malgun Gothic"/>
                <a:ea typeface="Malgun Gothic"/>
                <a:cs typeface="Malgun Gothic"/>
              </a:defRPr>
            </a:pPr>
            <a:r>
              <a:t>선두차량이 오른쪽 차로
중심을 따라 주행</a:t>
            </a:r>
          </a:p>
        </p:txBody>
      </p:sp>
      <p:sp>
        <p:nvSpPr>
          <p:cNvPr id="13" name="demo-card-02">
            <a:extLst xmlns:a="http://schemas.openxmlformats.org/drawingml/2006/main">
              <a:ext uri="{FF2B5EF4-FFF2-40B4-BE49-F238E27FC236}">
                <a16:creationId xmlns:a16="http://schemas.microsoft.com/office/drawing/2014/main" id="{40705D3A-290A-4683-B972-6410A60B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14550"/>
            <a:ext cx="31242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123B55"/>
          </a:solidFill>
          <a:ln xmlns:a="http://schemas.openxmlformats.org/drawingml/2006/main" w="9525">
            <a:solidFill>
              <a:srgbClr val="123B55"/>
            </a:solidFill>
            <a:prstDash val="solid"/>
          </a:ln>
        </p:spPr>
      </p:sp>
      <p:sp>
        <p:nvSpPr>
          <p:cNvPr id="14" name="demo-num-02">
            <a:extLst xmlns:a="http://schemas.openxmlformats.org/drawingml/2006/main">
              <a:ext uri="{FF2B5EF4-FFF2-40B4-BE49-F238E27FC236}">
                <a16:creationId xmlns:a16="http://schemas.microsoft.com/office/drawing/2014/main" id="{6362F1B8-82A7-4B51-BB3B-D3535A52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647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BE1DD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5" name="demo-title-02">
            <a:extLst xmlns:a="http://schemas.openxmlformats.org/drawingml/2006/main">
              <a:ext uri="{FF2B5EF4-FFF2-40B4-BE49-F238E27FC236}">
                <a16:creationId xmlns:a16="http://schemas.microsoft.com/office/drawing/2014/main" id="{C3CD02CE-CEAB-4D36-A065-9CE1C913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9900"/>
            <a:ext cx="2590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왼쪽 차선 변경</a:t>
            </a:r>
          </a:p>
        </p:txBody>
      </p:sp>
      <p:sp>
        <p:nvSpPr>
          <p:cNvPr id="16" name="demo-body-02">
            <a:extLst xmlns:a="http://schemas.openxmlformats.org/drawingml/2006/main">
              <a:ext uri="{FF2B5EF4-FFF2-40B4-BE49-F238E27FC236}">
                <a16:creationId xmlns:a16="http://schemas.microsoft.com/office/drawing/2014/main" id="{B57A3603-3DFE-4266-8914-FC8EB62E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95700"/>
            <a:ext cx="2571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EEF2"/>
                </a:solidFill>
                <a:latin typeface="Malgun Gothic"/>
                <a:ea typeface="Malgun Gothic"/>
                <a:cs typeface="Malgun Gothic"/>
              </a:defRPr>
            </a:pPr>
            <a:r>
              <a:t>중앙선을 통과해 목표
차로 중심으로 이동</a:t>
            </a:r>
          </a:p>
        </p:txBody>
      </p:sp>
      <p:sp>
        <p:nvSpPr>
          <p:cNvPr id="17" name="demo-card-03">
            <a:extLst xmlns:a="http://schemas.openxmlformats.org/drawingml/2006/main">
              <a:ext uri="{FF2B5EF4-FFF2-40B4-BE49-F238E27FC236}">
                <a16:creationId xmlns:a16="http://schemas.microsoft.com/office/drawing/2014/main" id="{6542646E-D7C0-4AD8-9868-598480E2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31242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18" name="demo-num-03">
            <a:extLst xmlns:a="http://schemas.openxmlformats.org/drawingml/2006/main">
              <a:ext uri="{FF2B5EF4-FFF2-40B4-BE49-F238E27FC236}">
                <a16:creationId xmlns:a16="http://schemas.microsoft.com/office/drawing/2014/main" id="{96119C87-4F2B-4437-B5EE-9235FE27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647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6A6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9" name="demo-title-03">
            <a:extLst xmlns:a="http://schemas.openxmlformats.org/drawingml/2006/main">
              <a:ext uri="{FF2B5EF4-FFF2-40B4-BE49-F238E27FC236}">
                <a16:creationId xmlns:a16="http://schemas.microsoft.com/office/drawing/2014/main" id="{B24149FB-F5A9-4FCA-B5B9-24B8B7EB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9900"/>
            <a:ext cx="2590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후미 추종</a:t>
            </a:r>
          </a:p>
        </p:txBody>
      </p:sp>
      <p:sp>
        <p:nvSpPr>
          <p:cNvPr id="20" name="demo-body-03">
            <a:extLst xmlns:a="http://schemas.openxmlformats.org/drawingml/2006/main">
              <a:ext uri="{FF2B5EF4-FFF2-40B4-BE49-F238E27FC236}">
                <a16:creationId xmlns:a16="http://schemas.microsoft.com/office/drawing/2014/main" id="{5E6D4633-1062-4DBC-B129-5BC2EB28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2571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12B"/>
                </a:solidFill>
                <a:latin typeface="Malgun Gothic"/>
                <a:ea typeface="Malgun Gothic"/>
                <a:cs typeface="Malgun Gothic"/>
              </a:defRPr>
            </a:pPr>
            <a:r>
              <a:t>후미차량 한 대가 같은
변경 경로를 따라감</a:t>
            </a:r>
          </a:p>
        </p:txBody>
      </p:sp>
      <p:sp>
        <p:nvSpPr>
          <p:cNvPr id="21" name="demo-unfilmed">
            <a:extLst xmlns:a="http://schemas.openxmlformats.org/drawingml/2006/main">
              <a:ext uri="{FF2B5EF4-FFF2-40B4-BE49-F238E27FC236}">
                <a16:creationId xmlns:a16="http://schemas.microsoft.com/office/drawing/2014/main" id="{DA7F4B49-60BC-4126-AC01-57B44A90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10744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demo-unfilmed-label">
            <a:extLst xmlns:a="http://schemas.openxmlformats.org/drawingml/2006/main">
              <a:ext uri="{FF2B5EF4-FFF2-40B4-BE49-F238E27FC236}">
                <a16:creationId xmlns:a16="http://schemas.microsoft.com/office/drawing/2014/main" id="{91AD3BDC-66CD-47E2-AC24-698A6C29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A6200"/>
                </a:solidFill>
                <a:latin typeface="Malgun Gothic"/>
                <a:ea typeface="Malgun Gothic"/>
                <a:cs typeface="Malgun Gothic"/>
              </a:defRPr>
            </a:pPr>
            <a:r>
              <a:t>미촬영</a:t>
            </a:r>
          </a:p>
        </p:txBody>
      </p:sp>
      <p:sp>
        <p:nvSpPr>
          <p:cNvPr id="23" name="demo-unfilmed-body">
            <a:extLst xmlns:a="http://schemas.openxmlformats.org/drawingml/2006/main">
              <a:ext uri="{FF2B5EF4-FFF2-40B4-BE49-F238E27FC236}">
                <a16:creationId xmlns:a16="http://schemas.microsoft.com/office/drawing/2014/main" id="{9EBA5E0F-8718-4601-BCD4-24235BD1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858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212B"/>
                </a:solidFill>
                <a:latin typeface="Malgun Gothic"/>
                <a:ea typeface="Malgun Gothic"/>
                <a:cs typeface="Malgun Gothic"/>
              </a:defRPr>
            </a:pPr>
            <a:r>
              <a:t>후미차량 2대 전체 구성 · 통합 대시보드 · 깜빡이 · 비상 정지</a:t>
            </a:r>
          </a:p>
        </p:txBody>
      </p:sp>
    </p:spTree>
    <p:extLst>
      <p:ext uri="{BB962C8B-B14F-4D97-AF65-F5344CB8AC3E}">
        <p14:creationId xmlns:p14="http://schemas.microsoft.com/office/powerpoint/2010/main" val="15439827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top">
            <a:extLst xmlns:a="http://schemas.openxmlformats.org/drawingml/2006/main">
              <a:ext uri="{FF2B5EF4-FFF2-40B4-BE49-F238E27FC236}">
                <a16:creationId xmlns:a16="http://schemas.microsoft.com/office/drawing/2014/main" id="{12B40A26-F8CD-4AF9-A0F7-44382B1C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9D8F40CC-376C-4880-8D89-451F8C49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Malgun Gothic"/>
                <a:ea typeface="Malgun Gothic"/>
                <a:cs typeface="Malgun Gothic"/>
              </a:defRPr>
            </a:pPr>
            <a:r>
              <a:t>RESULT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E86FEA2-CBBF-4B47-AF00-40E89843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0001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차선 인식에서 군집주행까지
하나의 시연 흐름으로 연결했습니다</a:t>
            </a:r>
          </a:p>
        </p:txBody>
      </p:sp>
      <p:sp>
        <p:nvSpPr>
          <p:cNvPr id="4" name="close-achieve">
            <a:extLst xmlns:a="http://schemas.openxmlformats.org/drawingml/2006/main">
              <a:ext uri="{FF2B5EF4-FFF2-40B4-BE49-F238E27FC236}">
                <a16:creationId xmlns:a16="http://schemas.microsoft.com/office/drawing/2014/main" id="{68D41654-5939-4ED0-B175-997DC1D8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704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23B55"/>
          </a:solidFill>
          <a:ln xmlns:a="http://schemas.openxmlformats.org/drawingml/2006/main" w="0">
            <a:solidFill>
              <a:srgbClr val="123B55"/>
            </a:solidFill>
            <a:prstDash val="solid"/>
          </a:ln>
        </p:spPr>
      </p:sp>
      <p:sp>
        <p:nvSpPr>
          <p:cNvPr id="5" name="close-achieve-title">
            <a:extLst xmlns:a="http://schemas.openxmlformats.org/drawingml/2006/main">
              <a:ext uri="{FF2B5EF4-FFF2-40B4-BE49-F238E27FC236}">
                <a16:creationId xmlns:a16="http://schemas.microsoft.com/office/drawing/2014/main" id="{48035737-CD04-4D21-BA6D-54BBFC1F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BE1DD"/>
                </a:solidFill>
                <a:latin typeface="Malgun Gothic"/>
                <a:ea typeface="Malgun Gothic"/>
                <a:cs typeface="Malgun Gothic"/>
              </a:defRPr>
            </a:pPr>
            <a:r>
              <a:t>구현 성과</a:t>
            </a:r>
          </a:p>
        </p:txBody>
      </p:sp>
      <p:sp>
        <p:nvSpPr>
          <p:cNvPr id="6" name="close-achieve-body">
            <a:extLst xmlns:a="http://schemas.openxmlformats.org/drawingml/2006/main">
              <a:ext uri="{FF2B5EF4-FFF2-40B4-BE49-F238E27FC236}">
                <a16:creationId xmlns:a16="http://schemas.microsoft.com/office/drawing/2014/main" id="{64A275F0-4B86-4B41-9C8D-6F31C526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58102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• OpenCV 기반 라인 추종
• 중앙선 기억 방식의 왼쪽 차선 변경
• 선두-후미 차량 연동 주행
• 인식 실패 시 정지하는 안전 제어</a:t>
            </a:r>
          </a:p>
        </p:txBody>
      </p:sp>
      <p:sp>
        <p:nvSpPr>
          <p:cNvPr id="7" name="close-next">
            <a:extLst xmlns:a="http://schemas.openxmlformats.org/drawingml/2006/main">
              <a:ext uri="{FF2B5EF4-FFF2-40B4-BE49-F238E27FC236}">
                <a16:creationId xmlns:a16="http://schemas.microsoft.com/office/drawing/2014/main" id="{03703783-9B2F-4E2F-96FD-3004EDE0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35623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DF5F2"/>
          </a:solidFill>
          <a:ln xmlns:a="http://schemas.openxmlformats.org/drawingml/2006/main" w="9525">
            <a:solidFill>
              <a:srgbClr val="CCD6DB"/>
            </a:solidFill>
            <a:prstDash val="solid"/>
          </a:ln>
        </p:spPr>
      </p:sp>
      <p:sp>
        <p:nvSpPr>
          <p:cNvPr id="8" name="close-next-title">
            <a:extLst xmlns:a="http://schemas.openxmlformats.org/drawingml/2006/main">
              <a:ext uri="{FF2B5EF4-FFF2-40B4-BE49-F238E27FC236}">
                <a16:creationId xmlns:a16="http://schemas.microsoft.com/office/drawing/2014/main" id="{62A90375-6DF6-4FE1-B12B-651A3C04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6A6"/>
                </a:solidFill>
                <a:latin typeface="Malgun Gothic"/>
                <a:ea typeface="Malgun Gothic"/>
                <a:cs typeface="Malgun Gothic"/>
              </a:defRPr>
            </a:pPr>
            <a:r>
              <a:t>다음 개선</a:t>
            </a:r>
          </a:p>
        </p:txBody>
      </p:sp>
      <p:sp>
        <p:nvSpPr>
          <p:cNvPr id="9" name="close-next-body">
            <a:extLst xmlns:a="http://schemas.openxmlformats.org/drawingml/2006/main">
              <a:ext uri="{FF2B5EF4-FFF2-40B4-BE49-F238E27FC236}">
                <a16:creationId xmlns:a16="http://schemas.microsoft.com/office/drawing/2014/main" id="{9977BC6B-0DA3-4B46-89F8-B9E95515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62400"/>
            <a:ext cx="27622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12B"/>
                </a:solidFill>
                <a:latin typeface="Malgun Gothic"/>
                <a:ea typeface="Malgun Gothic"/>
                <a:cs typeface="Malgun Gothic"/>
              </a:defRPr>
            </a:pPr>
            <a:r>
              <a:t>양방향 차선 변경
추종 거리 수치화
3대 전체 시나리오 재검증</a:t>
            </a:r>
          </a:p>
        </p:txBody>
      </p:sp>
      <p:sp>
        <p:nvSpPr>
          <p:cNvPr id="10" name="close-thanks">
            <a:extLst xmlns:a="http://schemas.openxmlformats.org/drawingml/2006/main">
              <a:ext uri="{FF2B5EF4-FFF2-40B4-BE49-F238E27FC236}">
                <a16:creationId xmlns:a16="http://schemas.microsoft.com/office/drawing/2014/main" id="{6E120F7E-EE4C-4CE2-A136-2A2920ED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3B55"/>
                </a:solidFill>
                <a:latin typeface="Malgun Gothic"/>
                <a:ea typeface="Malgun Gothic"/>
                <a:cs typeface="Malgun Gothic"/>
              </a:defRPr>
            </a:pPr>
            <a:r>
              <a:t>감사합니다</a:t>
            </a:r>
          </a:p>
        </p:txBody>
      </p:sp>
      <p:sp>
        <p:nvSpPr>
          <p:cNvPr id="11" name="close-qa">
            <a:extLst xmlns:a="http://schemas.openxmlformats.org/drawingml/2006/main">
              <a:ext uri="{FF2B5EF4-FFF2-40B4-BE49-F238E27FC236}">
                <a16:creationId xmlns:a16="http://schemas.microsoft.com/office/drawing/2014/main" id="{321D48CF-DA53-42CC-970B-096DF745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076950"/>
            <a:ext cx="114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526570"/>
                </a:solidFill>
                <a:latin typeface="Malgun Gothic"/>
                <a:ea typeface="Malgun Gothic"/>
                <a:cs typeface="Malgun Gothic"/>
              </a:defRPr>
            </a:pPr>
            <a: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738921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2026-07-17T05:51:27.5340000Z</dcterms:created>
  <dcterms:modified xsi:type="dcterms:W3CDTF">2026-07-17T05:51:27.5350000Z</dcterms:modified>
</coreProperties>
</file>